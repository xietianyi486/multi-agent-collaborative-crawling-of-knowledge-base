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Recall@10 与 nDCG@10 随检索策略演进（单位：%）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Recall@10</c:v>
                </c:pt>
              </c:strCache>
            </c:strRef>
          </c:tx>
          <c:spPr>
            <a:solidFill>
              <a:srgbClr val="3F51B5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900"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BM25</c:v>
                </c:pt>
                <c:pt idx="1">
                  <c:v>Dense</c:v>
                </c:pt>
                <c:pt idx="2">
                  <c:v>Hybrid</c:v>
                </c:pt>
                <c:pt idx="3">
                  <c:v>+ 重排</c:v>
                </c:pt>
                <c:pt idx="4">
                  <c:v>+ 重排 + 改写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64.71</c:v>
                </c:pt>
                <c:pt idx="1">
                  <c:v>66.18</c:v>
                </c:pt>
                <c:pt idx="2">
                  <c:v>72.06</c:v>
                </c:pt>
                <c:pt idx="3">
                  <c:v>77.94</c:v>
                </c:pt>
                <c:pt idx="4">
                  <c:v>79.41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nDCG@10</c:v>
                </c:pt>
              </c:strCache>
            </c:strRef>
          </c:tx>
          <c:spPr>
            <a:solidFill>
              <a:srgbClr val="06B6D4"/>
            </a:solidFill>
          </c:spPr>
          <c:dLbls>
            <c:numFmt formatCode="0.00" sourceLinked="0"/>
            <c:txPr>
              <a:bodyPr/>
              <a:lstStyle/>
              <a:p>
                <a:pPr>
                  <a:defRPr sz="900"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BM25</c:v>
                </c:pt>
                <c:pt idx="1">
                  <c:v>Dense</c:v>
                </c:pt>
                <c:pt idx="2">
                  <c:v>Hybrid</c:v>
                </c:pt>
                <c:pt idx="3">
                  <c:v>+ 重排</c:v>
                </c:pt>
                <c:pt idx="4">
                  <c:v>+ 重排 + 改写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43.4</c:v>
                </c:pt>
                <c:pt idx="1">
                  <c:v>34.11</c:v>
                </c:pt>
                <c:pt idx="2">
                  <c:v>45.28</c:v>
                </c:pt>
                <c:pt idx="3">
                  <c:v>53.77</c:v>
                </c:pt>
                <c:pt idx="4">
                  <c:v>56.47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000">
          <a:latin typeface="微软雅黑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2A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2926080"/>
            <a:ext cx="4206240" cy="4206240"/>
          </a:xfrm>
          <a:prstGeom prst="ellipse">
            <a:avLst/>
          </a:prstGeom>
          <a:solidFill>
            <a:srgbClr val="252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417320"/>
            <a:ext cx="100584" cy="9144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06040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8FA6F0"/>
                </a:solidFill>
                <a:latin typeface="微软雅黑"/>
                <a:ea typeface="微软雅黑"/>
                <a:cs typeface="微软雅黑"/>
              </a:rPr>
              <a:t>AI ACADEMY TEACHING KNOWLEDGE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71800"/>
            <a:ext cx="87782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人工智能学院教学知识库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B9C4F0"/>
                </a:solidFill>
                <a:latin typeface="微软雅黑"/>
                <a:ea typeface="微软雅黑"/>
                <a:cs typeface="微软雅黑"/>
              </a:rPr>
              <a:t>多智能体协作爬取 + 向量检索问答（垂直 RAG）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4709160"/>
            <a:ext cx="5120640" cy="18288"/>
          </a:xfrm>
          <a:prstGeom prst="rect">
            <a:avLst/>
          </a:prstGeom>
          <a:solidFill>
            <a:srgbClr val="454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956048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项 目 月 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9AA5D4"/>
                </a:solidFill>
                <a:latin typeface="微软雅黑"/>
                <a:ea typeface="微软雅黑"/>
                <a:cs typeface="微软雅黑"/>
              </a:rPr>
              <a:t>汇报周期：2026 年 9 月　|　状态：功能测试与优化升级中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CONTENTS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143000" y="1417320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141732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38528" y="14447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项目定位与月度概览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系统定位、本月核心进展数据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212848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2128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2240279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系统架构与技术实现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四层架构、多智能体爬取流水线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3008376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00837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38528" y="303580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功能界面展示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登录注册、智能问答、文档管理、数据中心、系统管理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3803904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80390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38528" y="383133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数据导入情况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入库规模、来源构成、分类分布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4599432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59943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38528" y="462686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AI 问答召回率评测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五配置检索对比、消融分析与指标解读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94960"/>
            <a:ext cx="566928" cy="566928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9496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38528" y="54223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质量保障与后续计划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测试覆盖、当前状态与下一阶段规划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项目定位与月度概览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面向 ESP32 / 树莓派 / 嵌入式教学资料的垂直知识库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15568"/>
            <a:ext cx="1083564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207008"/>
            <a:ext cx="103327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系统定位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由多智能体流水线自动爬取、打标、审核、摘要并入库，师生用自然语言提问即可获得带来源引用的可溯源解答——只做事实资料检索，不做大模型微调，杜绝 AI 幻觉。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12848"/>
            <a:ext cx="1673352" cy="6858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6,762</a:t>
            </a: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知识库文档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10028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2212848"/>
            <a:ext cx="1673352" cy="6858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0028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23,278</a:t>
            </a:r>
            <a:r>
              <a:rPr sz="1200" b="1" i="0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0028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文档分块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4256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4256" y="2212848"/>
            <a:ext cx="1673352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34256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5,986</a:t>
            </a:r>
            <a:r>
              <a:rPr sz="1200" b="1" i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34256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可溯源文档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58484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58484" y="2212848"/>
            <a:ext cx="1673352" cy="6858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58484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9</a:t>
            </a:r>
            <a:r>
              <a:rPr sz="12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8484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数据源站点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82712" y="2212848"/>
            <a:ext cx="1673352" cy="685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82712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45</a:t>
            </a:r>
            <a:r>
              <a:rPr sz="12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82712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分类节点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06940" y="2212848"/>
            <a:ext cx="1673352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06940" y="2212848"/>
            <a:ext cx="1673352" cy="685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6940" y="2450592"/>
            <a:ext cx="1673352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500" b="1" i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84.2</a:t>
            </a:r>
            <a:r>
              <a:rPr sz="1200" b="1" i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 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06940" y="3163824"/>
            <a:ext cx="167335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问答回答率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041648"/>
            <a:ext cx="1083564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本月主要进展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①　完成 6,762 篇 ESP32 / 树莓派 / 乐鑫官方技术文档的批量导入与向量化，构建 23,278 个语义分块，全部自动过审发布。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②　多智能体爬取子系统跑通 11 轮采集任务，9 个数据源站点全部启用，三层去重 + 审核拦截机制稳定生效。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③　混合检索（向量 + BM25）叠加 LLM 重排与查询改写，评测集 Recall@10 达到 79.41%，回答附带原文链接、章节定位。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④　RBAC 四级权限、文档密级过滤、问答日志审计与统计分析模块全部上线，108 个单元测试用例全绿。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系统架构与技术实现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展示层 / 应用层 / 检索层 / 数据层 四层解耦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108356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88720"/>
            <a:ext cx="82296" cy="96926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1298448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展示层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Vue 3 前端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1298448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管理后台 13+ 页面　·　对话界面　·　Element Plus 深色模式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2276856"/>
            <a:ext cx="108356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2276856"/>
            <a:ext cx="82296" cy="96926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2386584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6366F1"/>
                </a:solidFill>
                <a:latin typeface="微软雅黑"/>
                <a:ea typeface="微软雅黑"/>
                <a:cs typeface="微软雅黑"/>
              </a:rPr>
              <a:t>应用层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42032" y="2386584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用户认证　·　文档管理　·　问答服务　·　日志审计　·　爬取中心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364992"/>
            <a:ext cx="108356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364992"/>
            <a:ext cx="82296" cy="96926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3474720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检索层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垂直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2032" y="3474720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向量检索 + BM25 关键词检索　→　归一化加权融合　→　LLM 重排序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453128"/>
            <a:ext cx="10835640" cy="9692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453128"/>
            <a:ext cx="82296" cy="9692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4562856"/>
            <a:ext cx="14630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数据层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存储与索引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42032" y="4562856"/>
            <a:ext cx="86868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ChromaDB / FAISS　·　SQLite / MySQL　·　BM25 索引　·　文件存储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800" y="5541264"/>
            <a:ext cx="10835640" cy="603504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541264"/>
            <a:ext cx="10424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▲　多智能体爬取子系统（独立批处理包，与主应用完全解耦）：采集 → 打标 → 审核 → 摘要 → 自动入库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核心能力 · 多智能体协作爬取流水线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DAG 编排器：deps 依赖 / 指数退避重试 / optional 降级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234440"/>
            <a:ext cx="208483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234440"/>
            <a:ext cx="2084831" cy="658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096" y="1444752"/>
            <a:ext cx="402336" cy="402336"/>
          </a:xfrm>
          <a:prstGeom prst="ellipse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61872" y="1481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采集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2996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遍历站点 → 适配器
三层去重 → 落盘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2852928"/>
            <a:ext cx="841248" cy="23774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" y="2852928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必需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201168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5CDD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4076" y="1234440"/>
            <a:ext cx="208483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94076" y="1234440"/>
            <a:ext cx="2084831" cy="6583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95244" y="1444752"/>
            <a:ext cx="402336" cy="40233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95244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89020" y="1481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打标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95244" y="202996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LLM 分类，映射
KB 分类树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95244" y="2852928"/>
            <a:ext cx="841248" cy="237744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095244" y="2852928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可选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97196" y="201168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5CDD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21224" y="1234440"/>
            <a:ext cx="208483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21224" y="1234440"/>
            <a:ext cx="2084831" cy="658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5422392" y="1444752"/>
            <a:ext cx="402336" cy="402336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22392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16168" y="1481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审核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2392" y="202996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LLM 拦截广告 /
垃圾 / 版权高风险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22392" y="2852928"/>
            <a:ext cx="841248" cy="23774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22392" y="2852928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可选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24344" y="201168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5CDD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48371" y="1234440"/>
            <a:ext cx="208483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548371" y="1234440"/>
            <a:ext cx="2084831" cy="6583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749540" y="1444752"/>
            <a:ext cx="402336" cy="40233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49540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43315" y="1481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摘要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49540" y="202996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LLM 生成一句话
摘要，存爬虫库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49540" y="2852928"/>
            <a:ext cx="841248" cy="23774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49540" y="2852928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LLM 可选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51492" y="2011680"/>
            <a:ext cx="21945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C5CDDB"/>
                </a:solidFill>
                <a:latin typeface="微软雅黑"/>
                <a:ea typeface="微软雅黑"/>
                <a:cs typeface="微软雅黑"/>
              </a:rPr>
              <a:t>›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875519" y="1234440"/>
            <a:ext cx="2084831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875519" y="1234440"/>
            <a:ext cx="2084831" cy="658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076688" y="1444752"/>
            <a:ext cx="402336" cy="402336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076688" y="1444752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70463" y="1481328"/>
            <a:ext cx="12801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入库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76688" y="2029968"/>
            <a:ext cx="1737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写入 KB 主库
自动过审发布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076688" y="2852928"/>
            <a:ext cx="841248" cy="2377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076688" y="2852928"/>
            <a:ext cx="84124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必需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" y="3456432"/>
            <a:ext cx="1088136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关键设计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幂等保障：URL 哈希 → 内容哈希 → SimHash 三层去重，叠加 KB 侧 source_hash 闸门与 kb_syncs 唯一索引，重复运行零副作用。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成本可控：每日 LLM 预算闸门 ¥2.0，实测全量一轮仅 ¥0.067；超预算或 API 不可用时自动降级为规则管线，流水线不中断。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版权合规：risk_level 三级留痕（low 全文 / medium 节选 500 字 + 原文链接 / high 不入库），source_authorizations 表记录来源授权。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零代码扩展：新增站点只需在 sites.yaml 增加一条配置。已有 rss_feed / html_list / sitemap / github / espressif_docs 五类适配器。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容错降级：站点探活失败或无权限时自动跳过（“爬不了就不爬”）；连续失败触发熔断，冷却后自动恢复。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登录 / 注册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身份区分入口，按学生 / 教师 / 管理员角色分流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pic>
        <p:nvPicPr>
          <p:cNvPr id="9" name="Picture 8" descr="01_登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登录界面：科技靛蓝主题 + 深浅色模式切换</a:t>
            </a:r>
          </a:p>
        </p:txBody>
      </p:sp>
      <p:pic>
        <p:nvPicPr>
          <p:cNvPr id="12" name="Picture 11" descr="02_注册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注册界面：按身份过滤可选部门（教学部门 / 班级）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RBAC 四级角色分流：普通员工 / 部门管理员 / 知识库管理员 / 超级管理员，登录后按角色自动跳转。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JWT Token 认证（24h 过期）+ bcrypt 密码哈希；连续登录失败自动锁定账号。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注册时按用户身份过滤部门下拉：学生只显示 dept_type=class 的班级，教师只显示教学部门。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全局深色模式一键切换，主题色统一使用 CSS 变量（科技靛蓝），深浅色双主题同步生效。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智能问答（首页）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ESP32 / 树莓派 / 嵌入式开发垂直问答入口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pic>
        <p:nvPicPr>
          <p:cNvPr id="9" name="Picture 8" descr="03_智能问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9601200" cy="5400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7966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六类预设问题引导卡片 + 历史会话侧栏 + 流式输出输入框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智能问答（来源溯源）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答案逐条引用 [来源N]，附原文链接，可点击溯源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pic>
        <p:nvPicPr>
          <p:cNvPr id="9" name="Picture 8" descr="03b_问答_ESP32阿里云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9601200" cy="5400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7966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实际问答效果：结构化分点作答 + 5 条来源引用（含 esp32.com 原文链接）+ 免责声明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知识库文档浏览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按分类树浏览，支持关键词检索与正文预览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pic>
        <p:nvPicPr>
          <p:cNvPr id="9" name="Picture 8" descr="04_知识库文档浏览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9601200" cy="54006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647966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左侧分类树 + 文档列表 + 元信息展示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文档管理 / 分类管理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上传解析、版本管理、分类树维护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pic>
        <p:nvPicPr>
          <p:cNvPr id="9" name="Picture 8" descr="05_文档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文档管理：6,762 篇文档，支持上传 / 审核 / 密级 / 批量操作</a:t>
            </a:r>
          </a:p>
        </p:txBody>
      </p:sp>
      <p:pic>
        <p:nvPicPr>
          <p:cNvPr id="12" name="Picture 11" descr="06_分类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分类管理：45 个分类节点，三层树形结构维护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多格式上传：PDF / Word / Excel / Markdown / 纯文本，自动解析、分块、向量化、分类打标。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OCR 扫描件识别（RapidOCR）：逐页混合策略——有文本层走原路径，扫描页渲染成图识别。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文档密级与用户角色匹配的权限过滤，密级不足的文档在检索阶段即被剔除。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分类树按教学方向三层组织，支持批量导入时的确定性规则映射（零 LLM 费用）。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数据中心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知识库总览：文档总量、语义分块、可溯源覆盖与分类体系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pic>
        <p:nvPicPr>
          <p:cNvPr id="9" name="Picture 8" descr="07_数据中心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448" y="1024128"/>
            <a:ext cx="9601200" cy="42005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2960" y="527951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数据中心：「知识库总览」6,762 篇文档 · 23,278 个分块 · 5,986 篇可溯源 · 45 个分类节点；「导入批次明细」按导入日期聚合，09-19 单批回填 6,373 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统计分析 / 问答日志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问答量、高频问题、未命中问题、满意度与全量日志审计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9" name="Picture 8" descr="08_统计分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统计分析：注册用户、问答总量、回答率、趋势与高频问题</a:t>
            </a:r>
          </a:p>
        </p:txBody>
      </p:sp>
      <p:pic>
        <p:nvPicPr>
          <p:cNvPr id="12" name="Picture 11" descr="09_问答日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问答日志：问题 / 答案 / 来源 / 分段耗时 / 用户反馈，支持导出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问答日志完整留痕：问题、答案、引用来源文档、检索/重排/生成分段耗时、Token 消耗、用户反馈。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统计分析覆盖：问答量趋势、高频问题排行、未命中问题清单（反哺知识库补录）、用户满意度。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日志支持导出当前页与全量导出，满足教学场景下的使用情况盘点需求。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知识审核 / 敏感词管理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文档审核工作流与内容合规二次拦截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pic>
        <p:nvPicPr>
          <p:cNvPr id="9" name="Picture 8" descr="10_知识审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知识审核：待审核 / 已通过 / 已驳回三态流转</a:t>
            </a:r>
          </a:p>
        </p:txBody>
      </p:sp>
      <p:pic>
        <p:nvPicPr>
          <p:cNvPr id="12" name="Picture 11" descr="16_敏感词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敏感词管理：违规词库维护，问答与文档双重校验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知识审核三态流转：待审核 → 已通过 / 已驳回，审核意见与审核人全程留痕（review_status）。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爬取入库文档自动过审发布（security_level=1），人工审核通道保留用于上传文档与异常内容复核。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敏感词库对问答内容与文档正文做二次合规校验，命中后拦截并记录。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本月审核拦截真实生效：成功拦截赛事广告、芯片营销软文、政策解读等 28 篇非教学内容。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用户与角色管理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RBAC 四级角色，细粒度权限点配置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pic>
        <p:nvPicPr>
          <p:cNvPr id="9" name="Picture 8" descr="11_用户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用户管理：3 名用户，角色绑定与账号状态管控</a:t>
            </a:r>
          </a:p>
        </p:txBody>
      </p:sp>
      <p:pic>
        <p:nvPicPr>
          <p:cNvPr id="12" name="Picture 11" descr="12_角色管理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角色管理：6 个角色，权限点粒度配置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用户管理支持角色绑定、账号启用/禁用、密码重置与用户详情查看。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角色管理按权限点粒度配置，共 6 个角色（含超级管理员、知识库管理员、部门管理员、普通员工、学生等）。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权限校验在前端路由守卫与后端接口双向执行，前端仅做体验拦截，后端做真实鉴权。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功能界面 · 部门与审计日志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部门组织维护 + 全链路操作留痕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pic>
        <p:nvPicPr>
          <p:cNvPr id="9" name="Picture 8" descr="13_部门管理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078992"/>
            <a:ext cx="5669280" cy="31889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7548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部门管理：教学部门 / 班级双类型，注册时按身份过滤</a:t>
            </a:r>
          </a:p>
        </p:txBody>
      </p:sp>
      <p:pic>
        <p:nvPicPr>
          <p:cNvPr id="12" name="Picture 11" descr="14_审计日志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1078992"/>
            <a:ext cx="5669280" cy="318897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053328" y="1078992"/>
            <a:ext cx="5669280" cy="3188970"/>
          </a:xfrm>
          <a:prstGeom prst="rect">
            <a:avLst/>
          </a:prstGeom>
          <a:noFill/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53328" y="4313682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审计日志：391 条操作留痕，可追溯可导出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" y="4590288"/>
            <a:ext cx="11247120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5488" y="4590288"/>
            <a:ext cx="68580" cy="1874519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736592"/>
            <a:ext cx="10744200" cy="1600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部门表 dept_type 区分类型：teaching（教师所属） / class（学生所属），注册下拉按身份过滤。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审计日志累计 391 条：审核通过 338 条、登录成功 52 条、登录失败 1 条，支持按模块与操作类型筛选。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公告管理与个人中心模块同步上线，形成完整的系统管理闭环。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数据导入情况 · 总览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知识库主库导入规模、批次节奏与数据质量（截至 2026-09-22）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078992"/>
            <a:ext cx="2624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078992"/>
            <a:ext cx="2624328" cy="6400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128016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知识库文档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159105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6,762</a:t>
            </a: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1396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全部 md 格式，已完成解析入库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4428" y="1078992"/>
            <a:ext cx="2624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4428" y="1078992"/>
            <a:ext cx="2624328" cy="6400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3884" y="128016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文档分块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3884" y="159105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23,278</a:t>
            </a: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 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3884" y="21396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语义分块，平均 3.4 块/篇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078992"/>
            <a:ext cx="2624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078992"/>
            <a:ext cx="2624328" cy="6400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28016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可溯源文档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159105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5,986</a:t>
            </a: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 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396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含原文链接，占 88.5%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6548" y="1078992"/>
            <a:ext cx="2624328" cy="13898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6548" y="1078992"/>
            <a:ext cx="2624328" cy="6400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76004" y="1280160"/>
            <a:ext cx="22402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分类体系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76004" y="1591056"/>
            <a:ext cx="224028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4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45</a:t>
            </a: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 个节点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76004" y="2139696"/>
            <a:ext cx="2240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三层树：方向 → 专题 → 子类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2724912"/>
            <a:ext cx="5349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导入批次节奏 · 三批累计 6,762 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145536"/>
            <a:ext cx="4843299" cy="34747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501667" y="3145536"/>
            <a:ext cx="256870" cy="3474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58537" y="3145536"/>
            <a:ext cx="38758" cy="3474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3685032"/>
            <a:ext cx="118872" cy="118872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3639312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09-19　压缩包批量回填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12463" y="3639312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6,373 篇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28032" y="3639312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94.2%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3995928"/>
            <a:ext cx="118872" cy="118872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395020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09-07　首轮存量导入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12463" y="395020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338 篇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28032" y="3950208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4306824"/>
            <a:ext cx="118872" cy="11887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7824" y="4261104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09-12　增量补充入库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12463" y="4261104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51 篇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28032" y="4261104"/>
            <a:ext cx="969264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0.8%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4700016"/>
            <a:ext cx="5138928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导入脚本幂等：source_hash + 正文哈希 + 标题三重闸门，重复导入零副作用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全部文档自动过审发布（status=1 / review_status=2，共 6,760 篇）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每篇文档自动打散为语义分块并写入 ChromaDB 向量库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55080" y="2724912"/>
            <a:ext cx="5166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数据构成与可检索性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3145536"/>
            <a:ext cx="5166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格式统一：6,762 篇全部为 Markdown，已完成解析 → 分块 → 向量化全链路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检索单元：23,278 个语义分块全量入向量库，篇均 3.4 块，支持片段级引用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可溯源：5,986 篇（88.5%）保留原文链接，问答回答可直接跳转原网页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无外链文档 776 篇：人工上传 / 内部整理材料，仍参与全文与向量检索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分类覆盖：嵌入式开发 6,512 篇（96.3%）、AI 热点追踪 250 篇（3.7%）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密级统一为公开（security_level=1），检索阶段按用户角色做密级过滤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614416"/>
            <a:ext cx="5166360" cy="786384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669280"/>
            <a:ext cx="470916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本月导入以压缩包批量回填为主力：单批 6,373 篇一次性完成解析与向量化，知识库规模由 389 篇扩至 6,762 篇。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数据导入情况 · 来源构成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5,986 篇带原文链接文档，来自 59 个来源站点（截至 2026-09-22）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33856"/>
            <a:ext cx="10835640" cy="4206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133856"/>
            <a:ext cx="544068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来源站点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8232" y="1133856"/>
            <a:ext cx="1874519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来源类型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5632" y="1133856"/>
            <a:ext cx="137160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文档数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0112" y="1133856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占比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1554480"/>
            <a:ext cx="10835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1554480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esp32.com（ESP32 / ESP-IDF 技术论坛）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554480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技术论坛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1554480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5,599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2" y="1554480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93.5%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1901952"/>
            <a:ext cx="10835640" cy="347472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1901952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docs.espressif.com（乐鑫官方文档站）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1901952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官方文档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1901952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86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40112" y="1901952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1.4%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2249424"/>
            <a:ext cx="10835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4672" y="2249424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arxiv.org（预印本论文库）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2249424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学术论文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85632" y="2249424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60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249424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2596896"/>
            <a:ext cx="10835640" cy="347472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2596896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www.oschina.net（开源中国）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28232" y="2596896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技术社区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85632" y="2596896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0112" y="2596896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0.8%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2944368"/>
            <a:ext cx="10835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2" y="2944368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blog.adafruit.com（Adafruit 官方博客）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28232" y="2944368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厂商博客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85632" y="2944368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0112" y="2944368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3291839"/>
            <a:ext cx="10835640" cy="347472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2" y="3291839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github.com（开源项目仓库）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28232" y="3291839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85632" y="3291839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112" y="3291839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639311"/>
            <a:ext cx="10835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2" y="3639311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www.espressif.com.cn（乐鑫中文官网）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28232" y="3639311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厂商官网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85632" y="3639311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40112" y="3639311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0.4%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58368" y="3986783"/>
            <a:ext cx="10835640" cy="347472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4672" y="3986783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bbs.elecfans.com（电子发烧友论坛）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28232" y="3986783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技术论坛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85632" y="3986783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40112" y="3986783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0.3%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58368" y="4334255"/>
            <a:ext cx="1083564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04672" y="4334255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www.raspberrypi.com（树莓派官网）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28232" y="4334255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厂商官网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4334255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040112" y="4334255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8368" y="4681727"/>
            <a:ext cx="10835640" cy="347472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" y="4681727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sspai.com（少数派）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28232" y="4681727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技术媒体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485632" y="4681727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040112" y="4681727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0.2%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58368" y="5029199"/>
            <a:ext cx="10835640" cy="347472"/>
          </a:xfrm>
          <a:prstGeom prst="rect">
            <a:avLst/>
          </a:prstGeom>
          <a:solidFill>
            <a:srgbClr val="EEF1F9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04672" y="5029199"/>
            <a:ext cx="5440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其余 49 个来源站点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28232" y="5029199"/>
            <a:ext cx="1874519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综合站点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85632" y="5029199"/>
            <a:ext cx="137160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40112" y="5029199"/>
            <a:ext cx="1417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0.9%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541263"/>
            <a:ext cx="10835640" cy="868680"/>
          </a:xfrm>
          <a:prstGeom prst="rect">
            <a:avLst/>
          </a:prstGeom>
          <a:solidFill>
            <a:srgbClr val="E8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32688" y="5596127"/>
            <a:ext cx="1033272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来源结构：esp32.com 技术论坛贡献 93.5%（5,599 篇），其余为乐鑫官方文档、学术论文与技术社区内容。版权分级留痕——论坛类来源仅存节选 + 原文链接（medium 级），官方文档与开源仓库按许可全文入库（low 级），仅限校内教学使用。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数据导入情况 · 分类分布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45 个分类节点，按教学方向三层组织（Top 10 叶子分类）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20700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ESP-IDF / 论坛讨论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3824" y="1257300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63824" y="1257300"/>
            <a:ext cx="3931920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42048" y="120700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3,687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56819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ESP32 / 硬件问题讨论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63824" y="1618488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63824" y="1618488"/>
            <a:ext cx="685713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42048" y="156819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643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192938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ESP32 / 芯片与模组资料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63824" y="1979676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63824" y="1979676"/>
            <a:ext cx="421239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42048" y="192938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395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229057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无线通信 / AT 指令集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63824" y="2340864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163824" y="2340864"/>
            <a:ext cx="348721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42048" y="229057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327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265176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物联网云平台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3824" y="2702052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163824" y="2702052"/>
            <a:ext cx="306064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42048" y="265176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287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3012948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ESP-IDF / API 参考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163824" y="3063240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163824" y="3063240"/>
            <a:ext cx="219684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42048" y="3012948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206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374136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AI热点追踪 / 行业动态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163824" y="3424428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163824" y="3424428"/>
            <a:ext cx="193023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42048" y="3374136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181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3735324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无线通信 / Mesh 组网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63824" y="3785616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63824" y="3785616"/>
            <a:ext cx="188757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42048" y="3735324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" y="4096512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ESP-IDF / 开发指南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163824" y="4146804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163824" y="4146804"/>
            <a:ext cx="153565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242048" y="4096512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144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4457700"/>
            <a:ext cx="23774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生产与认证 / 生产支持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63824" y="4507992"/>
            <a:ext cx="3931920" cy="192024"/>
          </a:xfrm>
          <a:prstGeom prst="rect">
            <a:avLst/>
          </a:prstGeom>
          <a:solidFill>
            <a:srgbClr val="EE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163824" y="4507992"/>
            <a:ext cx="97044" cy="192024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242048" y="4457700"/>
            <a:ext cx="1005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91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1207008"/>
            <a:ext cx="3017520" cy="5120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分类体系说明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三层树结构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根节点「嵌入式开发 / AI热点追踪」→ 方向层「ESP32 / ESP-IDF / 无线通信与协议 / AI 边缘应用」→ 子类层「论坛讨论 / API 参考 / 芯片与模组资料」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整体分布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嵌入式开发 6,512 篇（96.3%），AI热点追踪 250 篇（3.7%）。技术论坛讨论占绝对多数，与教学答疑的高频需求场景吻合。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打标方式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批量导入采用确定性规则映射（零 LLM 费用），存量文档按标题关键词重归类；爬取流水线走 LLM 自动分类。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AI 问答召回率评测 · 五配置对比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评测集 68 道题，检索层 Recall / MRR / nDCG 指标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15568"/>
            <a:ext cx="10835640" cy="411480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115568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检索配置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9624" y="1115568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HitRate@5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2392" y="1115568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Recall@10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59" y="1115568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MRR@10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1115568"/>
            <a:ext cx="131673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nDCG@10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957816" y="1115568"/>
            <a:ext cx="1499616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平均延迟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527048"/>
            <a:ext cx="10835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1527048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BM25 关键词检索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9624" y="1527048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51.47%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22392" y="1527048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64.71%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59" y="1527048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33.97%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1527048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43.40%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1527048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12.4 ms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911095"/>
            <a:ext cx="108356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6384" y="1911095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Dense 向量检索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9624" y="1911095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41.18%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2392" y="1911095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66.18%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59" y="1911095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24.07%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1911095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34.11%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57816" y="1911095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428.8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295144"/>
            <a:ext cx="108356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2295144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Hybrid 混合检索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9624" y="2295144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54.41%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2392" y="2295144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72.06%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95159" y="2295144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33.24%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2295144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45.28%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57816" y="2295144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414.6 ms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2679191"/>
            <a:ext cx="10835640" cy="384048"/>
          </a:xfrm>
          <a:prstGeom prst="rect">
            <a:avLst/>
          </a:prstGeom>
          <a:solidFill>
            <a:srgbClr val="F2F5FA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86384" y="2679191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Hybrid + LLM 重排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9624" y="2679191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57.35%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22392" y="2679191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77.94%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59" y="2679191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40.51%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76488" y="2679191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53.77%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57816" y="2679191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1822.6 ms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063239"/>
            <a:ext cx="10835640" cy="384048"/>
          </a:xfrm>
          <a:prstGeom prst="rect">
            <a:avLst/>
          </a:prstGeom>
          <a:solidFill>
            <a:srgbClr val="E8EAF6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86384" y="3063239"/>
            <a:ext cx="28986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Hybrid + 重排 + 查询改写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9624" y="3063239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57.35%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22392" y="3063239"/>
            <a:ext cx="140817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79.41%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95159" y="3063239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42.57%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6488" y="3063239"/>
            <a:ext cx="131673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56.47%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57816" y="3063239"/>
            <a:ext cx="14996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5513.0 ms</a:t>
            </a:r>
          </a:p>
        </p:txBody>
      </p:sp>
      <p:graphicFrame>
        <p:nvGraphicFramePr>
          <p:cNvPr id="51" name="Chart 50"/>
          <p:cNvGraphicFramePr>
            <a:graphicFrameLocks noGrp="1"/>
          </p:cNvGraphicFramePr>
          <p:nvPr/>
        </p:nvGraphicFramePr>
        <p:xfrm>
          <a:off x="658368" y="3675887"/>
          <a:ext cx="10835640" cy="28346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AI 问答召回率 · 解读与消融分析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以纯 BM25 为基线，逐层叠加检索策略的效果验证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115568"/>
            <a:ext cx="262432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115568"/>
            <a:ext cx="2624328" cy="658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7" y="129844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+7.35 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1755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混合检索增益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04825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BM25 → 向量 + BM25 融合
Recall@10　64.71% → 72.06%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24428" y="1115568"/>
            <a:ext cx="262432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4428" y="1115568"/>
            <a:ext cx="2624328" cy="658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7308" y="129844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+5.88 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7308" y="1755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LLM 重排增益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07308" y="204825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融合结果二次精排
nDCG@10　45.28% → 53.77%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90488" y="1115568"/>
            <a:ext cx="262432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115568"/>
            <a:ext cx="2624328" cy="6583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29844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+1.47 pt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1755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查询改写增益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204825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口语 → 技术术语 + 多轮指代
Recall@10 提升至 79.41%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56548" y="1115568"/>
            <a:ext cx="2624328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956548" y="1115568"/>
            <a:ext cx="2624328" cy="65836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39428" y="1298448"/>
            <a:ext cx="228600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+14.70 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39428" y="17556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全链路总提升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39428" y="2048256"/>
            <a:ext cx="2331720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相对纯 BM25 基线
Recall@10 相对提升 22.7%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962656"/>
            <a:ext cx="5349240" cy="3383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消融实验结论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单一检索通道各有短板：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BM25 关键词命中快（12.4ms）但语义泛化弱，Dense 向量长尾覆盖好但 Top-5 精度偏低。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混合检索稳定优于单路：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双路召回 + 归一化加权融合，HitRate@5 达 54.41%，显著高于 BM25 的 51.47% 与 Dense 的 41.18%。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LLM 重排提升排序质量：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nDCG@10 由 45.28% 提升至 53.77%，MRR@10 由 33.24% 提升至 40.51%，说明相关文档被推到更靠前位置。</a:t>
            </a:r>
          </a:p>
          <a:p>
            <a:pPr>
              <a:lnSpc>
                <a:spcPct val="120000"/>
              </a:lnSpc>
              <a:spcAft>
                <a:spcPts val="6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2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查询改写改善长尾召回：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针对“多轮指代”子集效果最明显，Recall@10 再提升 1.47 pt。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962656"/>
            <a:ext cx="5166360" cy="3127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3145536"/>
            <a:ext cx="4663440" cy="2834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端到端问答运行数据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累计问答次数　</a:t>
            </a:r>
            <a:r>
              <a:rPr sz="115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19 次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有效回答（给出带引用答案）　</a:t>
            </a:r>
            <a:r>
              <a:rPr sz="1150" b="1" i="0">
                <a:solidFill>
                  <a:srgbClr val="10B981"/>
                </a:solidFill>
                <a:latin typeface="微软雅黑"/>
                <a:ea typeface="微软雅黑"/>
                <a:cs typeface="微软雅黑"/>
              </a:rPr>
              <a:t>16 次　84.2%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主动拒答（无关问题）　</a:t>
            </a:r>
            <a:r>
              <a:rPr sz="1150" b="1" i="0">
                <a:solidFill>
                  <a:srgbClr val="F59E0B"/>
                </a:solidFill>
                <a:latin typeface="微软雅黑"/>
                <a:ea typeface="微软雅黑"/>
                <a:cs typeface="微软雅黑"/>
              </a:rPr>
              <a:t>3 次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平均检索耗时　</a:t>
            </a: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1.21 s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平均生成耗时　</a:t>
            </a: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10.73 s</a:t>
            </a:r>
          </a:p>
          <a:p>
            <a:pPr>
              <a:spcAft>
                <a:spcPts val="700"/>
              </a:spcAft>
            </a:pPr>
            <a:r>
              <a:rPr sz="100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● </a:t>
            </a: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平均端到端总耗时　</a:t>
            </a:r>
            <a:r>
              <a:rPr sz="1150" b="1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14.70 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质量保障 · 测试与评测体系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单元测试全绿 + 三轮分级评测流程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88720"/>
            <a:ext cx="5212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188720"/>
            <a:ext cx="68580" cy="12984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335024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单元测试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108 个用例全绿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覆盖认证、文档解析、分块、检索、RAG 链路；测试自动隔离到临时库。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15184"/>
            <a:ext cx="5212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615184"/>
            <a:ext cx="68580" cy="12984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761488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评测数据集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74 道评测题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覆盖检索命中、拒答识别、多轮指代、密级过滤四类场景。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041648"/>
            <a:ext cx="5212080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4041648"/>
            <a:ext cx="68580" cy="129844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187952"/>
            <a:ext cx="47548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评测脚本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L1 / L2 / L3 分级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L1 纯 BM25 可离线运行；L2 五配置检索对比；L3 端到端 LLM 判分。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188720"/>
            <a:ext cx="521208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371600"/>
            <a:ext cx="4663440" cy="3749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安全与权限保障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RBAC 四级角色：普通员工 / 部门管理员 / 知识库管理员 / 超级管理员，共配置 6 个角色。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文档密级过滤：security_level 与用户角色自动匹配，检索阶段即完成权限收敛。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JWT Token 认证（24h 过期）+ bcrypt 密码哈希 + 登录失败锁定。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审计日志 391 条留痕：审核通过 338 条、登录成功 52 条、登录失败 1 条。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问答日志完整记录问题、答案、来源文档、分段耗时、Token 消耗与用户反馈。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• 敏感词管理与公告管理模块已上线，支持内容合规二次拦截。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37744"/>
            <a:ext cx="68580" cy="4023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201168"/>
            <a:ext cx="868680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E1B4B"/>
                </a:solidFill>
                <a:latin typeface="微软雅黑"/>
                <a:ea typeface="微软雅黑"/>
                <a:cs typeface="微软雅黑"/>
              </a:rPr>
              <a:t>当前进展与后续计划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03504"/>
            <a:ext cx="9601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系统整体功能已跑通，各模块正处于测试与优化升级阶段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868680"/>
            <a:ext cx="12191695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2975" y="638251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BACC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115568"/>
            <a:ext cx="10835640" cy="914400"/>
          </a:xfrm>
          <a:prstGeom prst="rect">
            <a:avLst/>
          </a:prstGeom>
          <a:solidFill>
            <a:srgbClr val="FFF7E6"/>
          </a:solidFill>
          <a:ln w="12700">
            <a:solidFill>
              <a:srgbClr val="F5E0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1115568"/>
            <a:ext cx="1033272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B46A00"/>
                </a:solidFill>
                <a:latin typeface="微软雅黑"/>
                <a:ea typeface="微软雅黑"/>
                <a:cs typeface="微软雅黑"/>
              </a:rPr>
              <a:t>⚠　当前状态：功能仍在测试与优化升级中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核心链路已完整跑通并可稳定演示；部分模块（长文档问答体验、检索时延、爬取调度策略）仍在迭代优化，数据规模与评测样本将持续扩充。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286000"/>
            <a:ext cx="352044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286000"/>
            <a:ext cx="3520440" cy="65836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2468880"/>
            <a:ext cx="1188720" cy="292608"/>
          </a:xfrm>
          <a:prstGeom prst="rect">
            <a:avLst/>
          </a:prstGeom>
          <a:solidFill>
            <a:srgbClr val="3F51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24688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已完成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" y="2907792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知识库主库建设：6,762 篇文档、23,278 个分块完成向量化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多智能体爬取流水线跑通 5 步 DAG，9 站点全部启用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混合检索 + LLM 重排 + 查询改写全链路调通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13+ 管理后台页面与对话界面全部可用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3F51B5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RBAC 权限、密级过滤、审计日志、统计分析上线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286000"/>
            <a:ext cx="352044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286000"/>
            <a:ext cx="3520440" cy="65836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44568" y="2468880"/>
            <a:ext cx="1188720" cy="292608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24688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优化中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2907792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长文档问答响应时延优化（当前平均约 14.7s）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检索召回率调优：扩充评测集、细化分块策略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爬取调度策略：避峰执行、增量采集频率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移动端适配与深色模式细节完善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06B6D4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问答反馈闭环：满意度采集与 Badcase 回流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01000" y="2286000"/>
            <a:ext cx="352044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01000" y="2286000"/>
            <a:ext cx="3520440" cy="65836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02168" y="2468880"/>
            <a:ext cx="1188720" cy="2926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8" y="2468880"/>
            <a:ext cx="11887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下一阶段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0456" y="2907792"/>
            <a:ext cx="310896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评测集扩充至 200+ 题，覆盖更多嵌入式场景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端到端 LLM 判分实验，产出论文第 6 章数据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增量索引更新机制，降低新文档入库延迟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多轮对话上下文理解的准确率专项提升</a:t>
            </a:r>
          </a:p>
          <a:p>
            <a:pPr>
              <a:lnSpc>
                <a:spcPct val="120000"/>
              </a:lnSpc>
              <a:spcAft>
                <a:spcPts val="800"/>
              </a:spcAft>
            </a:pPr>
            <a:r>
              <a:rPr sz="1100" b="1" i="0">
                <a:solidFill>
                  <a:srgbClr val="8B5CF6"/>
                </a:solidFill>
                <a:latin typeface="微软雅黑"/>
                <a:ea typeface="微软雅黑"/>
                <a:cs typeface="微软雅黑"/>
              </a:rPr>
              <a:t>• </a:t>
            </a:r>
            <a:r>
              <a:rPr sz="1100" b="0" i="0">
                <a:solidFill>
                  <a:srgbClr val="1E293B"/>
                </a:solidFill>
                <a:latin typeface="微软雅黑"/>
                <a:ea typeface="微软雅黑"/>
                <a:cs typeface="微软雅黑"/>
              </a:rPr>
              <a:t>面向师生的使用反馈收集与功能迭代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1280160"/>
            <a:ext cx="4937760" cy="4937760"/>
          </a:xfrm>
          <a:prstGeom prst="ellipse">
            <a:avLst/>
          </a:prstGeom>
          <a:solidFill>
            <a:srgbClr val="2A28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4400" y="3840480"/>
            <a:ext cx="4389120" cy="4389120"/>
          </a:xfrm>
          <a:prstGeom prst="ellipse">
            <a:avLst/>
          </a:prstGeom>
          <a:solidFill>
            <a:srgbClr val="2422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395728"/>
            <a:ext cx="96012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感 谢 聆 听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A9B4E8"/>
                </a:solidFill>
                <a:latin typeface="微软雅黑"/>
                <a:ea typeface="微软雅黑"/>
                <a:cs typeface="微软雅黑"/>
              </a:rPr>
              <a:t>人工智能学院教学知识库 · 项目月报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7E8CC8"/>
                </a:solidFill>
                <a:latin typeface="微软雅黑"/>
                <a:ea typeface="微软雅黑"/>
                <a:cs typeface="微软雅黑"/>
              </a:rPr>
              <a:t>功能持续测试与优化升级中，欢迎批评指正</a:t>
            </a:r>
          </a:p>
        </p:txBody>
      </p:sp>
      <p:sp>
        <p:nvSpPr>
          <p:cNvPr id="7" name="Rectangle 6"/>
          <p:cNvSpPr/>
          <p:nvPr/>
        </p:nvSpPr>
        <p:spPr>
          <a:xfrm>
            <a:off x="5184648" y="4315968"/>
            <a:ext cx="1828800" cy="18288"/>
          </a:xfrm>
          <a:prstGeom prst="rect">
            <a:avLst/>
          </a:prstGeom>
          <a:solidFill>
            <a:srgbClr val="454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